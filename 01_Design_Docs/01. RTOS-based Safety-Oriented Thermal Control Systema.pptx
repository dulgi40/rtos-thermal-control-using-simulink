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9" r:id="rId10"/>
    <p:sldId id="265" r:id="rId11"/>
    <p:sldId id="270" r:id="rId12"/>
    <p:sldId id="271" r:id="rId13"/>
    <p:sldId id="268" r:id="rId14"/>
    <p:sldId id="266" r:id="rId15"/>
    <p:sldId id="267" r:id="rId16"/>
    <p:sldId id="273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360DB-7D51-410E-90C2-62A31B2C0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8DC711-3567-43FC-BCF2-E21E6F451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8E089-0A8F-45F6-970E-D21E8D08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5BA2C-0486-4860-92FE-0977DBFD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2A34F4-7FED-456F-B128-E01C522F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289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BC8DB-736C-485A-85C0-8C242C60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DA650B-48C5-4423-A99F-A7E6E9C3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EB499-BD23-486A-870B-62C4F021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9FB93-5C31-4FF2-BD12-1017D55C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11BC-D7BA-49AD-A6EF-62D5E962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988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799AA-0155-4D53-AAA1-DA8CB1976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573F17-DBD9-4A70-861F-38D42462F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D36530-3379-408C-AB96-E377290C8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9BAD76-E5D4-476F-826D-E7DB3371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4E9E3-4A41-49ED-A882-927DAFBB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04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0E0CD-2127-4571-A740-6193C5C7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35F47-F092-4569-B0BB-C753FDCE9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F0F64F-A5C6-490E-B34E-05B567C9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902FA1-0DE9-448F-A836-FB8D7477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80D9A9-E153-417C-B9FE-F9FE6816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B6BC7C-CBA9-4C9B-ACB0-1A0366F9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00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C01C6-673D-446F-9597-5416B8F9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4CC7C-DBA8-46C5-8DE0-584A2235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B2E414-B023-4BD3-B4AB-405A34454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33EF7F-9809-4EC5-8326-A2B903F09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872593-4AB6-44C8-9DA3-90E359E4E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4A3A34-419C-4E28-ADE3-B61CC968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1DB1FA-8E93-46B3-B151-162FB712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B1D39AD-E415-445F-801B-E45EFEBA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56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EBD49-C819-49EF-B04A-08493F20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744CF7-BA8C-4217-8954-4B451315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FC9A38-1FC3-4A8A-823C-0823B829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228A56-69B2-4AEB-AA4B-A29C834F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9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772EA6-4A6C-469D-B49E-001915E2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2F3A68-C865-48F1-AFD1-30A73EDE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EE97F0-D192-405B-B408-52C320A6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61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9ABCA-EEDA-4420-8E58-402BCB19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4E0355-826D-47C6-B131-8F861216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66998A-EF2A-43CB-9015-06C92B8E9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B977B7-0ACE-4561-83F1-3D7BDF78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7D1FBB-D745-484D-9976-AE2E058BE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EBCE64-B591-45E7-B618-FAA787F0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2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90DC8-CC59-48C2-8FBF-3A238AD5F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2E4D36-2621-4F53-90EE-AFC04B17F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2C48D0-EEE5-4208-85E7-0749008F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66B949-D11F-4D45-A224-2F9BC11A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CA454-F62D-4692-95EA-8608FC0E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66894-ADD2-4D6F-A45C-16E92233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05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96C14-3428-4AAD-B7F6-4070E936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99197C-8248-4AD5-91FB-2E6179C86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920A1-4278-4A73-AD80-D8B8C6B5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EFBD6-E198-4D79-AD29-6CECE69C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3B73B8-0004-498F-B190-7F918801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6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5DA6DA-4C90-4FA7-B495-8025DD23C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50CAAE-75D9-465C-B5E4-25228EAE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5533E-DB0E-4C8B-945A-780DE835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1B0FF-4FDA-486E-8A5D-8C723E4F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3C2E2-AD46-4E06-891F-9741FD6C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23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ACAEB6-9140-4705-A24A-22DE3925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D43268-C16B-4717-B0C5-CB502DCBC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8EEA9-CBAE-4CF0-903B-41E55AEE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EC9C0-5ED4-4887-8DC6-31248B07A4BB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F9155-AD06-41EC-8B88-2D8638656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32AA4-7BDA-4C8B-8384-35F6472FA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6E964-4AD7-4B45-8B13-F133F8934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8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5C2F7-2F7C-4096-A018-5A9FBB07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3741"/>
            <a:ext cx="9144000" cy="153772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RTOS-based Safety-Oriented Thermal Control System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9DF571-B598-4024-9421-D8600C4A6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221" y="2676316"/>
            <a:ext cx="11341767" cy="472657"/>
          </a:xfrm>
        </p:spPr>
        <p:txBody>
          <a:bodyPr/>
          <a:lstStyle/>
          <a:p>
            <a:r>
              <a:rPr lang="en-US" altLang="ko-KR" dirty="0"/>
              <a:t>Simulink design → STM32 </a:t>
            </a:r>
            <a:r>
              <a:rPr lang="en-US" altLang="ko-KR" dirty="0" err="1"/>
              <a:t>FreeRTOS</a:t>
            </a:r>
            <a:r>
              <a:rPr lang="en-US" altLang="ko-KR" dirty="0"/>
              <a:t> implementation → Embedded validation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01D526C3-F300-48BA-8B22-61846EB1C81C}"/>
              </a:ext>
            </a:extLst>
          </p:cNvPr>
          <p:cNvSpPr txBox="1">
            <a:spLocks/>
          </p:cNvSpPr>
          <p:nvPr/>
        </p:nvSpPr>
        <p:spPr>
          <a:xfrm>
            <a:off x="465221" y="3422465"/>
            <a:ext cx="11341767" cy="15688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2000" dirty="0"/>
              <a:t>STM32F446RE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2000" dirty="0" err="1"/>
              <a:t>FreeRTOS</a:t>
            </a:r>
            <a:endParaRPr lang="en-US" altLang="ko-KR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2000" dirty="0"/>
              <a:t>Simulink / MATLAB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2000" dirty="0"/>
              <a:t>Embedded C</a:t>
            </a:r>
            <a:endParaRPr lang="ko-KR" altLang="en-US" sz="20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6DDCB056-05B2-440B-80D7-9A327DAD9040}"/>
              </a:ext>
            </a:extLst>
          </p:cNvPr>
          <p:cNvSpPr txBox="1">
            <a:spLocks/>
          </p:cNvSpPr>
          <p:nvPr/>
        </p:nvSpPr>
        <p:spPr>
          <a:xfrm>
            <a:off x="465221" y="5264825"/>
            <a:ext cx="11341767" cy="1380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Model-based control design and embedded implementation of a safety-aware thermal regulation system.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1167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4FA1-675C-472B-B6F5-EC977A0D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C162A-6B8A-4D28-9B1C-5541E310B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3300" b="1" dirty="0"/>
              <a:t>* Objective</a:t>
            </a:r>
            <a:endParaRPr lang="en-US" altLang="ko-KR" sz="3300" dirty="0"/>
          </a:p>
          <a:p>
            <a:r>
              <a:rPr lang="en-US" altLang="ko-KR" dirty="0"/>
              <a:t>This project implements a thermal control system using a model-based design workflow.</a:t>
            </a:r>
          </a:p>
          <a:p>
            <a:r>
              <a:rPr lang="en-US" altLang="ko-KR" dirty="0"/>
              <a:t>The control algorithm was first designed and validated in Simulink, and then deployed to an STM32 microcontroller running </a:t>
            </a:r>
            <a:r>
              <a:rPr lang="en-US" altLang="ko-KR" dirty="0" err="1"/>
              <a:t>FreeRTOS</a:t>
            </a:r>
            <a:r>
              <a:rPr lang="en-US" altLang="ko-KR" dirty="0"/>
              <a:t> to verify real-time embedded operation.</a:t>
            </a:r>
          </a:p>
          <a:p>
            <a:pPr marL="0" indent="0">
              <a:buNone/>
            </a:pPr>
            <a:endParaRPr lang="en-US" altLang="ko-KR" sz="3300" b="1" dirty="0"/>
          </a:p>
          <a:p>
            <a:pPr marL="0" indent="0">
              <a:buNone/>
            </a:pPr>
            <a:r>
              <a:rPr lang="en-US" altLang="ko-KR" sz="3300" b="1" dirty="0"/>
              <a:t>* Key Components</a:t>
            </a:r>
            <a:endParaRPr lang="en-US" altLang="ko-KR" sz="3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Thermal plant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P / PI control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Anti-windup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Fault detection and fail-safe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Embedded implementation using </a:t>
            </a:r>
            <a:r>
              <a:rPr lang="en-US" altLang="ko-KR" dirty="0" err="1"/>
              <a:t>FreeRTOS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040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E0C2D-DE0B-497C-849B-103710A6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EF9CC-BD80-495E-B979-FD2FC916C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 err="1"/>
              <a:t>set_temp</a:t>
            </a:r>
            <a:r>
              <a:rPr lang="en-US" altLang="ko-KR" sz="1600" dirty="0"/>
              <a:t>      </a:t>
            </a:r>
            <a:r>
              <a:rPr lang="en-US" altLang="ko-KR" sz="1600" dirty="0" err="1"/>
              <a:t>heat_input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   │            │</a:t>
            </a:r>
          </a:p>
          <a:p>
            <a:pPr marL="0" indent="0">
              <a:buNone/>
            </a:pPr>
            <a:r>
              <a:rPr lang="en-US" altLang="ko-KR" sz="1600" dirty="0"/>
              <a:t>     ▼            ▼</a:t>
            </a:r>
          </a:p>
          <a:p>
            <a:pPr marL="0" indent="0">
              <a:buNone/>
            </a:pPr>
            <a:r>
              <a:rPr lang="en-US" altLang="ko-KR" sz="1600" dirty="0"/>
              <a:t>     Controller (PI + Anti-windup)</a:t>
            </a:r>
          </a:p>
          <a:p>
            <a:pPr marL="0" indent="0">
              <a:buNone/>
            </a:pPr>
            <a:r>
              <a:rPr lang="en-US" altLang="ko-KR" sz="1600" dirty="0"/>
              <a:t>            │</a:t>
            </a:r>
          </a:p>
          <a:p>
            <a:pPr marL="0" indent="0">
              <a:buNone/>
            </a:pPr>
            <a:r>
              <a:rPr lang="en-US" altLang="ko-KR" sz="1600" dirty="0"/>
              <a:t>            ▼</a:t>
            </a:r>
          </a:p>
          <a:p>
            <a:pPr marL="0" indent="0">
              <a:buNone/>
            </a:pPr>
            <a:r>
              <a:rPr lang="en-US" altLang="ko-KR" sz="1600" dirty="0"/>
              <a:t>        Safety Manager</a:t>
            </a:r>
          </a:p>
          <a:p>
            <a:pPr marL="0" indent="0">
              <a:buNone/>
            </a:pPr>
            <a:r>
              <a:rPr lang="en-US" altLang="ko-KR" sz="1600" dirty="0"/>
              <a:t>            │</a:t>
            </a:r>
          </a:p>
          <a:p>
            <a:pPr marL="0" indent="0">
              <a:buNone/>
            </a:pPr>
            <a:r>
              <a:rPr lang="en-US" altLang="ko-KR" sz="1600" dirty="0"/>
              <a:t>            ▼</a:t>
            </a:r>
          </a:p>
          <a:p>
            <a:pPr marL="0" indent="0">
              <a:buNone/>
            </a:pPr>
            <a:r>
              <a:rPr lang="en-US" altLang="ko-KR" sz="1600" dirty="0"/>
              <a:t>           Plant</a:t>
            </a:r>
          </a:p>
          <a:p>
            <a:pPr marL="0" indent="0">
              <a:buNone/>
            </a:pPr>
            <a:r>
              <a:rPr lang="en-US" altLang="ko-KR" sz="1600" dirty="0"/>
              <a:t>            │</a:t>
            </a:r>
          </a:p>
          <a:p>
            <a:pPr marL="0" indent="0">
              <a:buNone/>
            </a:pPr>
            <a:r>
              <a:rPr lang="en-US" altLang="ko-KR" sz="1600" dirty="0"/>
              <a:t>            └── temp feedback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E35E0-5DCD-476B-BE03-78020324FA59}"/>
              </a:ext>
            </a:extLst>
          </p:cNvPr>
          <p:cNvSpPr txBox="1"/>
          <p:nvPr/>
        </p:nvSpPr>
        <p:spPr>
          <a:xfrm>
            <a:off x="4563035" y="4518212"/>
            <a:ext cx="6974541" cy="179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system architecture separates the </a:t>
            </a:r>
            <a:r>
              <a:rPr lang="en-US" altLang="ko-KR" b="1" dirty="0"/>
              <a:t>control layer</a:t>
            </a:r>
            <a:r>
              <a:rPr lang="en-US" altLang="ko-KR" dirty="0"/>
              <a:t>, </a:t>
            </a:r>
            <a:r>
              <a:rPr lang="en-US" altLang="ko-KR" b="1" dirty="0"/>
              <a:t>safety layer</a:t>
            </a:r>
            <a:r>
              <a:rPr lang="en-US" altLang="ko-KR" dirty="0"/>
              <a:t>, and </a:t>
            </a:r>
            <a:r>
              <a:rPr lang="en-US" altLang="ko-KR" b="1" dirty="0"/>
              <a:t>plant model</a:t>
            </a:r>
            <a:r>
              <a:rPr lang="en-US" altLang="ko-KR" dirty="0"/>
              <a:t>, similar to typical automotive ECU software structures.</a:t>
            </a:r>
          </a:p>
          <a:p>
            <a:r>
              <a:rPr lang="en-US" altLang="ko-KR" dirty="0"/>
              <a:t>This separation allows safety logic to override control commands when abnormal conditions are detected.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C2E59A-C5DA-4517-9B55-6388944D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676" y="1304132"/>
            <a:ext cx="7109012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4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92B59-7449-4DC4-9F5D-D82C48B2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Thermal Plant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6D7F1-B897-4464-A7E4-075358138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altLang="ko-KR" sz="2600" b="1" dirty="0"/>
              <a:t>T[k+1] = T[k] + Ts ( a·heat_input − b·pwm − c(T[k] − T_ambient) )</a:t>
            </a:r>
            <a:endParaRPr lang="en-US" altLang="ko-KR" sz="2600" b="1" dirty="0"/>
          </a:p>
          <a:p>
            <a:endParaRPr lang="en-US" altLang="ko-KR" dirty="0"/>
          </a:p>
          <a:p>
            <a:r>
              <a:rPr lang="en-US" altLang="ko-KR" dirty="0" err="1"/>
              <a:t>heat_input</a:t>
            </a:r>
            <a:r>
              <a:rPr lang="en-US" altLang="ko-KR" dirty="0"/>
              <a:t> : disturbance heat source</a:t>
            </a:r>
          </a:p>
          <a:p>
            <a:r>
              <a:rPr lang="en-US" altLang="ko-KR" dirty="0" err="1"/>
              <a:t>pwm</a:t>
            </a:r>
            <a:r>
              <a:rPr lang="en-US" altLang="ko-KR" dirty="0"/>
              <a:t>        : cooling actuator</a:t>
            </a:r>
          </a:p>
          <a:p>
            <a:r>
              <a:rPr lang="en-US" altLang="ko-KR" dirty="0"/>
              <a:t>ambient    : environment temperature</a:t>
            </a:r>
          </a:p>
          <a:p>
            <a:endParaRPr lang="en-US" altLang="ko-KR" dirty="0"/>
          </a:p>
          <a:p>
            <a:r>
              <a:rPr lang="pt-BR" altLang="ko-KR" sz="2200" dirty="0"/>
              <a:t>a = 3</a:t>
            </a:r>
          </a:p>
          <a:p>
            <a:r>
              <a:rPr lang="pt-BR" altLang="ko-KR" sz="2200" dirty="0"/>
              <a:t>b = 0.08</a:t>
            </a:r>
          </a:p>
          <a:p>
            <a:r>
              <a:rPr lang="pt-BR" altLang="ko-KR" sz="2200" dirty="0"/>
              <a:t>c = 0.02</a:t>
            </a:r>
          </a:p>
          <a:p>
            <a:r>
              <a:rPr lang="pt-BR" altLang="ko-KR" sz="2200" dirty="0"/>
              <a:t>Ts = 0.1 s</a:t>
            </a:r>
          </a:p>
          <a:p>
            <a:r>
              <a:rPr lang="pt-BR" altLang="ko-KR" sz="2200" dirty="0"/>
              <a:t>ambient = 25°C</a:t>
            </a:r>
            <a:endParaRPr lang="ko-KR" alt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D6422-9381-45CE-966A-50E6D1A1290B}"/>
              </a:ext>
            </a:extLst>
          </p:cNvPr>
          <p:cNvSpPr txBox="1"/>
          <p:nvPr/>
        </p:nvSpPr>
        <p:spPr>
          <a:xfrm>
            <a:off x="3460376" y="4132729"/>
            <a:ext cx="7593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plant represents a simplified first-order thermal system including: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heat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cooling actuator effect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environmental heat dissipation</a:t>
            </a:r>
          </a:p>
          <a:p>
            <a:r>
              <a:rPr lang="en-US" altLang="ko-KR" dirty="0"/>
              <a:t>This model was used to simulate the thermal dynamics before deploying the controller to embedded hardware.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86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4C63D48-0A1C-4A11-B6C1-52721DDD7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0354"/>
            <a:ext cx="4578105" cy="38191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750F83-39A1-4ED8-A0C3-F675D675F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2" y="1930354"/>
            <a:ext cx="4578105" cy="3819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Open-loop Plant Response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2AA62-95E9-4EF0-9E7B-E60D7F45AFC3}"/>
              </a:ext>
            </a:extLst>
          </p:cNvPr>
          <p:cNvSpPr txBox="1"/>
          <p:nvPr/>
        </p:nvSpPr>
        <p:spPr>
          <a:xfrm>
            <a:off x="1604682" y="5853953"/>
            <a:ext cx="9139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Under constant thermal load, the plant temperature continuously increases due to heat input.</a:t>
            </a:r>
          </a:p>
          <a:p>
            <a:r>
              <a:rPr lang="en-US" altLang="ko-KR" sz="1600" dirty="0"/>
              <a:t>The system exhibits </a:t>
            </a:r>
            <a:r>
              <a:rPr lang="en-US" altLang="ko-KR" sz="1600" b="1" dirty="0"/>
              <a:t>thermal inertia and slow dynamic response</a:t>
            </a:r>
            <a:r>
              <a:rPr lang="en-US" altLang="ko-KR" sz="1600" dirty="0"/>
              <a:t>, which motivates the need for closed-loop temperature control.</a:t>
            </a:r>
          </a:p>
        </p:txBody>
      </p:sp>
    </p:spTree>
    <p:extLst>
      <p:ext uri="{BB962C8B-B14F-4D97-AF65-F5344CB8AC3E}">
        <p14:creationId xmlns:p14="http://schemas.microsoft.com/office/powerpoint/2010/main" val="39308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EBFF0A9-D3D9-40CC-B742-5DF9FAD4B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0354"/>
            <a:ext cx="4578105" cy="38191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8279DF-4F3F-4B96-BCB4-14486607D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1" y="1898978"/>
            <a:ext cx="4578105" cy="3819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 Controller Response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014B2D-EFCF-4233-9309-D5709C7341EA}"/>
              </a:ext>
            </a:extLst>
          </p:cNvPr>
          <p:cNvSpPr txBox="1"/>
          <p:nvPr/>
        </p:nvSpPr>
        <p:spPr>
          <a:xfrm>
            <a:off x="1604682" y="5853953"/>
            <a:ext cx="913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Proportional control reduces the temperature error but leaves a </a:t>
            </a:r>
            <a:r>
              <a:rPr lang="en-US" altLang="ko-KR" b="1" dirty="0"/>
              <a:t>steady-state offset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This occurs because the controller output decreases as the error approaches zero.</a:t>
            </a:r>
          </a:p>
        </p:txBody>
      </p:sp>
    </p:spTree>
    <p:extLst>
      <p:ext uri="{BB962C8B-B14F-4D97-AF65-F5344CB8AC3E}">
        <p14:creationId xmlns:p14="http://schemas.microsoft.com/office/powerpoint/2010/main" val="238334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40D184E-F3DD-47B4-85C7-9BE322BD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0354"/>
            <a:ext cx="4578105" cy="38191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7CD081-725B-472D-9C58-B437424D8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2" y="1884782"/>
            <a:ext cx="4578105" cy="3819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 Controller Response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2E9A-4926-4A41-8001-F8F3A494A1D4}"/>
              </a:ext>
            </a:extLst>
          </p:cNvPr>
          <p:cNvSpPr txBox="1"/>
          <p:nvPr/>
        </p:nvSpPr>
        <p:spPr>
          <a:xfrm>
            <a:off x="1604682" y="5853953"/>
            <a:ext cx="9139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integral term accumulates the control error over time, allowing the controller to eliminate steady-state error and accurately track the target temperature.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703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881B752-91CB-4F4F-B407-F6067C7AA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1" y="1898978"/>
            <a:ext cx="4690882" cy="381610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588B6E-BF2D-43D4-804A-16D90EFC7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663" y="1933402"/>
            <a:ext cx="4690882" cy="38161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Anti-windup 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D0B70-84B8-4DE3-B8A9-E9D0436044DE}"/>
              </a:ext>
            </a:extLst>
          </p:cNvPr>
          <p:cNvSpPr txBox="1"/>
          <p:nvPr/>
        </p:nvSpPr>
        <p:spPr>
          <a:xfrm>
            <a:off x="1604682" y="5701551"/>
            <a:ext cx="9139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When actuator saturation occurs, the controller output is limited.</a:t>
            </a:r>
          </a:p>
          <a:p>
            <a:r>
              <a:rPr lang="en-US" altLang="ko-KR" sz="1600" dirty="0"/>
              <a:t>Without anti-windup, the integral term would continue to grow, causing large overshoot once the actuator recovers.</a:t>
            </a:r>
          </a:p>
          <a:p>
            <a:r>
              <a:rPr lang="en-US" altLang="ko-KR" sz="1600" dirty="0"/>
              <a:t>The anti-windup mechanism prevents excessive integral accumulation.</a:t>
            </a:r>
          </a:p>
        </p:txBody>
      </p:sp>
    </p:spTree>
    <p:extLst>
      <p:ext uri="{BB962C8B-B14F-4D97-AF65-F5344CB8AC3E}">
        <p14:creationId xmlns:p14="http://schemas.microsoft.com/office/powerpoint/2010/main" val="166331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57FA2BF-4B5C-45BB-BC30-6BB5A9CD7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3402"/>
            <a:ext cx="4690882" cy="381610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9187AC8-408E-4148-B8FB-79BA7D508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1" y="1898978"/>
            <a:ext cx="4690882" cy="38161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Anti-windup OFF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EF8B1-E5C5-41F0-8CA2-DDA98C3FB315}"/>
              </a:ext>
            </a:extLst>
          </p:cNvPr>
          <p:cNvSpPr txBox="1"/>
          <p:nvPr/>
        </p:nvSpPr>
        <p:spPr>
          <a:xfrm>
            <a:off x="1604682" y="5701551"/>
            <a:ext cx="9139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When actuator saturation occurs, the controller output is limited.</a:t>
            </a:r>
          </a:p>
          <a:p>
            <a:r>
              <a:rPr lang="en-US" altLang="ko-KR" sz="1600" dirty="0"/>
              <a:t>Without anti-windup, the integral term would continue to grow, causing large overshoot once the actuator recovers.</a:t>
            </a:r>
          </a:p>
          <a:p>
            <a:r>
              <a:rPr lang="en-US" altLang="ko-KR" sz="1600" dirty="0"/>
              <a:t>The anti-windup mechanism prevents excessive integral accumulation.</a:t>
            </a:r>
          </a:p>
        </p:txBody>
      </p:sp>
    </p:spTree>
    <p:extLst>
      <p:ext uri="{BB962C8B-B14F-4D97-AF65-F5344CB8AC3E}">
        <p14:creationId xmlns:p14="http://schemas.microsoft.com/office/powerpoint/2010/main" val="356015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4F8D400-1B95-495E-923E-C450EB378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01" y="1898978"/>
            <a:ext cx="5023114" cy="3819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676F39-AA63-434B-BC2F-E8BE9325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Fault / Fail-safe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FC95E-713E-44A9-B59F-C9ED449352EC}"/>
              </a:ext>
            </a:extLst>
          </p:cNvPr>
          <p:cNvSpPr txBox="1"/>
          <p:nvPr/>
        </p:nvSpPr>
        <p:spPr>
          <a:xfrm>
            <a:off x="1622612" y="5619518"/>
            <a:ext cx="9139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If the temperature exceeds a safety threshold (70°C), the safety manager activates fault handling.</a:t>
            </a:r>
          </a:p>
          <a:p>
            <a:r>
              <a:rPr lang="en-US" altLang="ko-KR" sz="1200" dirty="0"/>
              <a:t>In fault mode: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200" dirty="0" err="1"/>
              <a:t>fault_flag</a:t>
            </a:r>
            <a:r>
              <a:rPr lang="en-US" altLang="ko-KR" sz="1200" dirty="0"/>
              <a:t> is raised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200" dirty="0"/>
              <a:t>PWM is forced to maximum cooling</a:t>
            </a:r>
          </a:p>
          <a:p>
            <a:r>
              <a:rPr lang="en-US" altLang="ko-KR" sz="1200" dirty="0"/>
              <a:t>This mechanism ensures safe operation under abnormal thermal conditions.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14301C-B406-4EA2-B322-4A0E15BD0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15" y="1898978"/>
            <a:ext cx="5023114" cy="381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3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334DB-C447-4A6C-B632-3E53C404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Embedded Implementation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7C710E-9BBD-4048-80A7-710E37C40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23939"/>
            <a:ext cx="9704580" cy="315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STM32F446RE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running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FreeRTOS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periodically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</a:t>
            </a:r>
            <a:endParaRPr kumimoji="0" lang="ko-KR" altLang="ko-KR" sz="10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ControlTask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(100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ms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└ </a:t>
            </a:r>
            <a:r>
              <a:rPr kumimoji="0" lang="ko-KR" altLang="ko-KR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thermal_project_step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ko-K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Features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UART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signals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MATLAB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07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54754-F2E6-4FC5-A8D3-380C8805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RTOS Task Structure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32D98-5C54-45B6-9AE1-656A0362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 err="1">
                <a:latin typeface="Consolas" panose="020B0609020204030204" pitchFamily="49" charset="0"/>
              </a:rPr>
              <a:t>FreeRTOS</a:t>
            </a:r>
            <a:r>
              <a:rPr lang="en-US" altLang="ko-KR" sz="1800" b="1" dirty="0">
                <a:latin typeface="Consolas" panose="020B0609020204030204" pitchFamily="49" charset="0"/>
              </a:rPr>
              <a:t> Tasks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 err="1">
                <a:latin typeface="Consolas" panose="020B0609020204030204" pitchFamily="49" charset="0"/>
              </a:rPr>
              <a:t>ControlTask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Period : 100 </a:t>
            </a:r>
            <a:r>
              <a:rPr lang="en-US" altLang="ko-KR" sz="1600" dirty="0" err="1">
                <a:latin typeface="Consolas" panose="020B0609020204030204" pitchFamily="49" charset="0"/>
              </a:rPr>
              <a:t>ms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├ sensor reading (software plant)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├ control algorithm (PI + anti-windup)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├ safety manager</a:t>
            </a:r>
            <a:br>
              <a:rPr lang="en-US" altLang="ko-KR" sz="1600" dirty="0">
                <a:latin typeface="Consolas" panose="020B0609020204030204" pitchFamily="49" charset="0"/>
              </a:rPr>
            </a:br>
            <a:r>
              <a:rPr lang="en-US" altLang="ko-KR" sz="1600" dirty="0">
                <a:latin typeface="Consolas" panose="020B0609020204030204" pitchFamily="49" charset="0"/>
              </a:rPr>
              <a:t>└ UART logging</a:t>
            </a:r>
            <a:endParaRPr lang="en-US" altLang="ko-KR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2400" dirty="0"/>
              <a:t>The RTOS scheduler ensures deterministic control execution while allowing concurrent system monitoring.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8400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62525-8E99-47C5-9D52-A96AC578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Generation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37D30BC-C8BD-4CD9-B0E2-CD47615B3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2417"/>
            <a:ext cx="2534004" cy="43249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E9F993-CFDE-4213-AD6B-34FFE7E6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894" y="1519517"/>
            <a:ext cx="8628032" cy="381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6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62525-8E99-47C5-9D52-A96AC578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Control Loop Implementation</a:t>
            </a:r>
            <a:endParaRPr lang="ko-KR" altLang="en-US" sz="6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23B54-B6C9-43C1-802F-0B6FAD0B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Control loop execution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thermal_project_U.set_temp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set_temp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thermal_project_U.heat_input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heat_input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thermal_project_step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temp    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thermal_project_Y.temp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pwm_out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thermal_project_Y.pwm_out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fault   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thermal_project_Y.fault_flag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ko-KR" sz="1600" dirty="0"/>
          </a:p>
          <a:p>
            <a:r>
              <a:rPr lang="en-US" altLang="ko-KR" sz="1100" dirty="0"/>
              <a:t>Simulink-generated control code executed</a:t>
            </a:r>
          </a:p>
          <a:p>
            <a:r>
              <a:rPr lang="en-US" altLang="ko-KR" sz="1100" dirty="0"/>
              <a:t>inside the embedded control loop.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0396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62525-8E99-47C5-9D52-A96AC578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PI Controller with Anti-windup</a:t>
            </a:r>
            <a:endParaRPr lang="ko-KR" altLang="en-US" sz="6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23B54-B6C9-43C1-802F-0B6FAD0B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PI control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error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set_temp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- temp;</a:t>
            </a:r>
          </a:p>
          <a:p>
            <a:pPr marL="0" indent="0">
              <a:buNone/>
            </a:pP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u_raw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Kp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* error +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I_term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Anti-windup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if ((!(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u_raw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&gt; 100.0)) &amp;&amp; (!(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u_raw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&lt; 0.0)))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I_term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+=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KiTs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* error;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ko-KR" sz="1100" dirty="0"/>
          </a:p>
          <a:p>
            <a:r>
              <a:rPr lang="en-US" altLang="ko-KR" sz="1100" dirty="0"/>
              <a:t>Anti-windup prevents integrator accumulation</a:t>
            </a:r>
          </a:p>
          <a:p>
            <a:r>
              <a:rPr lang="en-US" altLang="ko-KR" sz="1100" dirty="0"/>
              <a:t>when actuator saturation occurs.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9569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048B2-A1CD-4FA6-95A7-0AE03456D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Troubleshooting (Using Simulink)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72B99-24B0-4053-AEBE-4AB1C112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/>
              <a:t>Issue</a:t>
            </a:r>
            <a:endParaRPr lang="en-US" altLang="ko-KR" sz="2000" dirty="0"/>
          </a:p>
          <a:p>
            <a:r>
              <a:rPr lang="en-US" altLang="ko-KR" sz="2000" dirty="0"/>
              <a:t>During anti-windup OFF verification, the simulation result was initially inconsistent with the expected integrator growth behavior.</a:t>
            </a:r>
          </a:p>
          <a:p>
            <a:r>
              <a:rPr lang="en-US" altLang="ko-KR" sz="2000" b="1" dirty="0"/>
              <a:t>Cause</a:t>
            </a:r>
            <a:endParaRPr lang="en-US" altLang="ko-KR" sz="2000" dirty="0"/>
          </a:p>
          <a:p>
            <a:r>
              <a:rPr lang="en-US" altLang="ko-KR" sz="2000" dirty="0"/>
              <a:t>The input signal connected to the integrator block was incorrectly configured in the Simulink model.</a:t>
            </a:r>
          </a:p>
          <a:p>
            <a:r>
              <a:rPr lang="en-US" altLang="ko-KR" sz="2000" b="1" dirty="0"/>
              <a:t>Fix</a:t>
            </a:r>
            <a:endParaRPr lang="en-US" altLang="ko-KR" sz="2000" dirty="0"/>
          </a:p>
          <a:p>
            <a:r>
              <a:rPr lang="en-US" altLang="ko-KR" sz="2000" dirty="0"/>
              <a:t>The integrator input path was corrected, and the simulation was repeated.</a:t>
            </a:r>
          </a:p>
          <a:p>
            <a:r>
              <a:rPr lang="en-US" altLang="ko-KR" sz="2000" b="1" dirty="0"/>
              <a:t>Result</a:t>
            </a:r>
            <a:endParaRPr lang="en-US" altLang="ko-KR" sz="2000" dirty="0"/>
          </a:p>
          <a:p>
            <a:r>
              <a:rPr lang="en-US" altLang="ko-KR" sz="2000" dirty="0"/>
              <a:t>After correction, the anti-windup OFF case showed the expected integrator accumulation and overshoot behavior.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6324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BC946-02F8-4636-8A74-7F62D1B4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FFA2E0-EEA2-40C5-B9E4-FC7BE32619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594" y="1690688"/>
            <a:ext cx="1160481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Thermal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modeling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Simulink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STM32 and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FreeRTOS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model-based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effectively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bridge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883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883</Words>
  <Application>Microsoft Office PowerPoint</Application>
  <PresentationFormat>와이드스크린</PresentationFormat>
  <Paragraphs>135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 Unicode MS</vt:lpstr>
      <vt:lpstr>맑은 고딕</vt:lpstr>
      <vt:lpstr>Arial</vt:lpstr>
      <vt:lpstr>Consolas</vt:lpstr>
      <vt:lpstr>Office 테마</vt:lpstr>
      <vt:lpstr>RTOS-based Safety-Oriented Thermal Control System</vt:lpstr>
      <vt:lpstr>Project Overview</vt:lpstr>
      <vt:lpstr>System Architecture</vt:lpstr>
      <vt:lpstr>Thermal Plant Model</vt:lpstr>
      <vt:lpstr>Open-loop Plant Response</vt:lpstr>
      <vt:lpstr>P Controller Response</vt:lpstr>
      <vt:lpstr>PI Controller Response</vt:lpstr>
      <vt:lpstr>Anti-windup ON</vt:lpstr>
      <vt:lpstr>Anti-windup OFF</vt:lpstr>
      <vt:lpstr>Fault / Fail-safe</vt:lpstr>
      <vt:lpstr>Embedded Implementation</vt:lpstr>
      <vt:lpstr>RTOS Task Structure</vt:lpstr>
      <vt:lpstr>Code Generation</vt:lpstr>
      <vt:lpstr>Control Loop Implementation</vt:lpstr>
      <vt:lpstr>PI Controller with Anti-windup</vt:lpstr>
      <vt:lpstr>Troubleshooting (Using Simulink)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RTOS-based Safety-Oriented Thermal Control System</dc:title>
  <dc:creator>Dong jun Seo</dc:creator>
  <cp:lastModifiedBy>Dong jun Seo</cp:lastModifiedBy>
  <cp:revision>10</cp:revision>
  <dcterms:created xsi:type="dcterms:W3CDTF">2026-03-07T12:25:35Z</dcterms:created>
  <dcterms:modified xsi:type="dcterms:W3CDTF">2026-03-08T13:27:18Z</dcterms:modified>
</cp:coreProperties>
</file>